
<file path=[Content_Types].xml><?xml version="1.0" encoding="utf-8"?>
<Types xmlns="http://schemas.openxmlformats.org/package/2006/content-types">
  <Default ContentType="image/svg+xml" Extension="sv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  <Override ContentType="application/vnd.openxmlformats-officedocument.presentationml.viewProps+xml" PartName="/ppt/viewProps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10287000" cx="18288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2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2.xml"/><Relationship Id="rId3" Type="http://schemas.openxmlformats.org/officeDocument/2006/relationships/presProps" Target="presProps2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507075" y="5505392"/>
            <a:ext cx="6179809" cy="3382041"/>
          </a:xfrm>
          <a:custGeom>
            <a:avLst/>
            <a:gdLst/>
            <a:ahLst/>
            <a:cxnLst/>
            <a:rect r="r" b="b" t="t" l="l"/>
            <a:pathLst>
              <a:path h="3382041" w="6179809">
                <a:moveTo>
                  <a:pt x="0" y="0"/>
                </a:moveTo>
                <a:lnTo>
                  <a:pt x="6179809" y="0"/>
                </a:lnTo>
                <a:lnTo>
                  <a:pt x="6179809" y="3382041"/>
                </a:lnTo>
                <a:lnTo>
                  <a:pt x="0" y="3382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993519" y="2923233"/>
            <a:ext cx="8028708" cy="130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3"/>
              </a:lnSpc>
            </a:pPr>
            <a:r>
              <a:rPr lang="en-US" sz="9893" b="true">
                <a:solidFill>
                  <a:srgbClr val="2D2D2D"/>
                </a:solidFill>
                <a:latin typeface="Fraunces Semi-Bold"/>
                <a:ea typeface="Fraunces Semi-Bold"/>
                <a:cs typeface="Fraunces Semi-Bold"/>
                <a:sym typeface="Fraunces Semi-Bold"/>
              </a:rPr>
              <a:t>Idea Name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93519" y="8371205"/>
            <a:ext cx="3986767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Track: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93519" y="7758430"/>
            <a:ext cx="342816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Team Name: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27762" y="9258300"/>
            <a:ext cx="1060238" cy="1028700"/>
            <a:chOff x="0" y="0"/>
            <a:chExt cx="523379" cy="507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507811"/>
            </a:xfrm>
            <a:custGeom>
              <a:avLst/>
              <a:gdLst/>
              <a:ahLst/>
              <a:cxnLst/>
              <a:rect r="r" b="b" t="t" l="l"/>
              <a:pathLst>
                <a:path h="507811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507811"/>
                  </a:lnTo>
                  <a:lnTo>
                    <a:pt x="0" y="50781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true" rot="0">
            <a:off x="12686811" y="8118609"/>
            <a:ext cx="2216016" cy="2216016"/>
          </a:xfrm>
          <a:custGeom>
            <a:avLst/>
            <a:gdLst/>
            <a:ahLst/>
            <a:cxnLst/>
            <a:rect r="r" b="b" t="t" l="l"/>
            <a:pathLst>
              <a:path h="2216016" w="2216016">
                <a:moveTo>
                  <a:pt x="0" y="2216016"/>
                </a:moveTo>
                <a:lnTo>
                  <a:pt x="2216016" y="2216016"/>
                </a:lnTo>
                <a:lnTo>
                  <a:pt x="2216016" y="0"/>
                </a:lnTo>
                <a:lnTo>
                  <a:pt x="0" y="0"/>
                </a:lnTo>
                <a:lnTo>
                  <a:pt x="0" y="22160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-10800000">
            <a:off x="14902827" y="2981483"/>
            <a:ext cx="4512899" cy="4488283"/>
          </a:xfrm>
          <a:custGeom>
            <a:avLst/>
            <a:gdLst/>
            <a:ahLst/>
            <a:cxnLst/>
            <a:rect r="r" b="b" t="t" l="l"/>
            <a:pathLst>
              <a:path h="4488283" w="4512899">
                <a:moveTo>
                  <a:pt x="0" y="0"/>
                </a:moveTo>
                <a:lnTo>
                  <a:pt x="4512899" y="0"/>
                </a:lnTo>
                <a:lnTo>
                  <a:pt x="4512899" y="4488283"/>
                </a:lnTo>
                <a:lnTo>
                  <a:pt x="0" y="4488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93519" y="1888817"/>
            <a:ext cx="6848808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2D2D2D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27762" y="9258300"/>
            <a:ext cx="1060238" cy="1028700"/>
            <a:chOff x="0" y="0"/>
            <a:chExt cx="523379" cy="507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507811"/>
            </a:xfrm>
            <a:custGeom>
              <a:avLst/>
              <a:gdLst/>
              <a:ahLst/>
              <a:cxnLst/>
              <a:rect r="r" b="b" t="t" l="l"/>
              <a:pathLst>
                <a:path h="507811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507811"/>
                  </a:lnTo>
                  <a:lnTo>
                    <a:pt x="0" y="50781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9175" y="4434502"/>
            <a:ext cx="2552229" cy="4112372"/>
          </a:xfrm>
          <a:custGeom>
            <a:avLst/>
            <a:gdLst/>
            <a:ahLst/>
            <a:cxnLst/>
            <a:rect r="r" b="b" t="t" l="l"/>
            <a:pathLst>
              <a:path h="4112372" w="2552229">
                <a:moveTo>
                  <a:pt x="0" y="0"/>
                </a:moveTo>
                <a:lnTo>
                  <a:pt x="2552229" y="0"/>
                </a:lnTo>
                <a:lnTo>
                  <a:pt x="2552229" y="4112371"/>
                </a:lnTo>
                <a:lnTo>
                  <a:pt x="0" y="41123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4787" t="-59" r="0" b="0"/>
            </a:stretch>
          </a:blipFill>
        </p:spPr>
      </p:sp>
      <p:sp>
        <p:nvSpPr>
          <p:cNvPr name="AutoShape 6" id="6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488158" y="1542227"/>
            <a:ext cx="3789522" cy="3803353"/>
          </a:xfrm>
          <a:custGeom>
            <a:avLst/>
            <a:gdLst/>
            <a:ahLst/>
            <a:cxnLst/>
            <a:rect r="r" b="b" t="t" l="l"/>
            <a:pathLst>
              <a:path h="3803353" w="3789522">
                <a:moveTo>
                  <a:pt x="0" y="0"/>
                </a:moveTo>
                <a:lnTo>
                  <a:pt x="3789523" y="0"/>
                </a:lnTo>
                <a:lnTo>
                  <a:pt x="3789523" y="3803353"/>
                </a:lnTo>
                <a:lnTo>
                  <a:pt x="0" y="3803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25665" y="1888817"/>
            <a:ext cx="583667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2D2D2D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Proposed Solution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27762" y="9258300"/>
            <a:ext cx="1060238" cy="1028700"/>
            <a:chOff x="0" y="0"/>
            <a:chExt cx="523379" cy="507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507811"/>
            </a:xfrm>
            <a:custGeom>
              <a:avLst/>
              <a:gdLst/>
              <a:ahLst/>
              <a:cxnLst/>
              <a:rect r="r" b="b" t="t" l="l"/>
              <a:pathLst>
                <a:path h="507811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507811"/>
                  </a:lnTo>
                  <a:lnTo>
                    <a:pt x="0" y="50781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9175" y="4434502"/>
            <a:ext cx="2552229" cy="4112372"/>
          </a:xfrm>
          <a:custGeom>
            <a:avLst/>
            <a:gdLst/>
            <a:ahLst/>
            <a:cxnLst/>
            <a:rect r="r" b="b" t="t" l="l"/>
            <a:pathLst>
              <a:path h="4112372" w="2552229">
                <a:moveTo>
                  <a:pt x="0" y="0"/>
                </a:moveTo>
                <a:lnTo>
                  <a:pt x="2552229" y="0"/>
                </a:lnTo>
                <a:lnTo>
                  <a:pt x="2552229" y="4112371"/>
                </a:lnTo>
                <a:lnTo>
                  <a:pt x="0" y="41123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4787" t="-59" r="0" b="0"/>
            </a:stretch>
          </a:blipFill>
        </p:spPr>
      </p:sp>
      <p:sp>
        <p:nvSpPr>
          <p:cNvPr name="AutoShape 6" id="6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488158" y="1542227"/>
            <a:ext cx="3789522" cy="3803353"/>
          </a:xfrm>
          <a:custGeom>
            <a:avLst/>
            <a:gdLst/>
            <a:ahLst/>
            <a:cxnLst/>
            <a:rect r="r" b="b" t="t" l="l"/>
            <a:pathLst>
              <a:path h="3803353" w="3789522">
                <a:moveTo>
                  <a:pt x="0" y="0"/>
                </a:moveTo>
                <a:lnTo>
                  <a:pt x="3789523" y="0"/>
                </a:lnTo>
                <a:lnTo>
                  <a:pt x="3789523" y="3803353"/>
                </a:lnTo>
                <a:lnTo>
                  <a:pt x="0" y="3803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16998" y="1833860"/>
            <a:ext cx="345400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2D2D2D"/>
                </a:solidFill>
                <a:latin typeface="Fraunces Heavy"/>
                <a:ea typeface="Fraunces Heavy"/>
                <a:cs typeface="Fraunces Heavy"/>
                <a:sym typeface="Fraunces Heavy"/>
              </a:rPr>
              <a:t>Tech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"/>
          <p:cNvSpPr/>
          <p:nvPr/>
        </p:nvSpPr>
        <p:spPr>
          <a:xfrm>
            <a:off x="17227762" y="9258300"/>
            <a:ext cx="1059842" cy="1028317"/>
          </a:xfrm>
          <a:custGeom>
            <a:rect b="b" l="l" r="r" t="t"/>
            <a:pathLst>
              <a:path extrusionOk="0" h="507811" w="523379">
                <a:moveTo>
                  <a:pt x="0" y="0"/>
                </a:moveTo>
                <a:lnTo>
                  <a:pt x="523379" y="0"/>
                </a:lnTo>
                <a:lnTo>
                  <a:pt x="523379" y="507811"/>
                </a:lnTo>
                <a:lnTo>
                  <a:pt x="0" y="507811"/>
                </a:lnTo>
                <a:close/>
              </a:path>
            </a:pathLst>
          </a:custGeom>
          <a:solidFill>
            <a:srgbClr val="2D2D2D"/>
          </a:solidFill>
          <a:ln>
            <a:noFill/>
          </a:ln>
        </p:spPr>
      </p:sp>
      <p:sp>
        <p:nvSpPr>
          <p:cNvPr id="14" name="Google Shape;14;p1"/>
          <p:cNvSpPr/>
          <p:nvPr/>
        </p:nvSpPr>
        <p:spPr>
          <a:xfrm flipH="1">
            <a:off x="0" y="0"/>
            <a:ext cx="1028700" cy="1028700"/>
          </a:xfrm>
          <a:custGeom>
            <a:rect b="b" l="l" r="r" t="t"/>
            <a:pathLst>
              <a:path extrusionOk="0"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" name="Google Shape;15;p1"/>
          <p:cNvSpPr/>
          <p:nvPr/>
        </p:nvSpPr>
        <p:spPr>
          <a:xfrm>
            <a:off x="1019175" y="4434502"/>
            <a:ext cx="2552229" cy="4112372"/>
          </a:xfrm>
          <a:custGeom>
            <a:rect b="b" l="l" r="r" t="t"/>
            <a:pathLst>
              <a:path extrusionOk="0" h="4112372" w="2552229">
                <a:moveTo>
                  <a:pt x="0" y="0"/>
                </a:moveTo>
                <a:lnTo>
                  <a:pt x="2552229" y="0"/>
                </a:lnTo>
                <a:lnTo>
                  <a:pt x="2552229" y="4112371"/>
                </a:lnTo>
                <a:lnTo>
                  <a:pt x="0" y="41123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04779" r="0" t="-59"/>
            </a:stretch>
          </a:blipFill>
          <a:ln>
            <a:noFill/>
          </a:ln>
        </p:spPr>
      </p:sp>
      <p:cxnSp>
        <p:nvCxnSpPr>
          <p:cNvPr id="16" name="Google Shape;16;p1"/>
          <p:cNvCxnSpPr/>
          <p:nvPr/>
        </p:nvCxnSpPr>
        <p:spPr>
          <a:xfrm rot="5400000">
            <a:off x="-3605362" y="5652276"/>
            <a:ext cx="9258600" cy="0"/>
          </a:xfrm>
          <a:prstGeom prst="straightConnector1">
            <a:avLst/>
          </a:prstGeom>
          <a:noFill/>
          <a:ln cap="flat" cmpd="sng" w="9525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1"/>
          <p:cNvCxnSpPr/>
          <p:nvPr/>
        </p:nvCxnSpPr>
        <p:spPr>
          <a:xfrm rot="10800000">
            <a:off x="1028700" y="1008688"/>
            <a:ext cx="17259300" cy="0"/>
          </a:xfrm>
          <a:prstGeom prst="straightConnector1">
            <a:avLst/>
          </a:prstGeom>
          <a:noFill/>
          <a:ln cap="flat" cmpd="sng" w="9525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"/>
          <p:cNvSpPr/>
          <p:nvPr/>
        </p:nvSpPr>
        <p:spPr>
          <a:xfrm>
            <a:off x="15488158" y="1542227"/>
            <a:ext cx="3789522" cy="3803353"/>
          </a:xfrm>
          <a:custGeom>
            <a:rect b="b" l="l" r="r" t="t"/>
            <a:pathLst>
              <a:path extrusionOk="0" h="3803353" w="3789522">
                <a:moveTo>
                  <a:pt x="0" y="0"/>
                </a:moveTo>
                <a:lnTo>
                  <a:pt x="3789523" y="0"/>
                </a:lnTo>
                <a:lnTo>
                  <a:pt x="3789523" y="3803353"/>
                </a:lnTo>
                <a:lnTo>
                  <a:pt x="0" y="3803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" name="Google Shape;19;p1"/>
          <p:cNvSpPr txBox="1"/>
          <p:nvPr/>
        </p:nvSpPr>
        <p:spPr>
          <a:xfrm>
            <a:off x="8220450" y="1833850"/>
            <a:ext cx="19806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D2D2D"/>
                </a:solidFill>
                <a:latin typeface="Fraunces Black"/>
                <a:ea typeface="Fraunces Black"/>
                <a:cs typeface="Fraunces Black"/>
                <a:sym typeface="Fraunces Black"/>
              </a:rPr>
              <a:t>Demo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27762" y="9258300"/>
            <a:ext cx="1060238" cy="1028700"/>
            <a:chOff x="0" y="0"/>
            <a:chExt cx="523379" cy="5078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379" cy="507811"/>
            </a:xfrm>
            <a:custGeom>
              <a:avLst/>
              <a:gdLst/>
              <a:ahLst/>
              <a:cxnLst/>
              <a:rect r="r" b="b" t="t" l="l"/>
              <a:pathLst>
                <a:path h="507811" w="523379">
                  <a:moveTo>
                    <a:pt x="0" y="0"/>
                  </a:moveTo>
                  <a:lnTo>
                    <a:pt x="523379" y="0"/>
                  </a:lnTo>
                  <a:lnTo>
                    <a:pt x="523379" y="507811"/>
                  </a:lnTo>
                  <a:lnTo>
                    <a:pt x="0" y="50781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993519" y="3554139"/>
            <a:ext cx="2411516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2D2D2D"/>
                </a:solidFill>
                <a:latin typeface="DM Sans Bold"/>
                <a:ea typeface="DM Sans Bold"/>
                <a:cs typeface="DM Sans Bold"/>
                <a:sym typeface="DM Sans Bold"/>
              </a:rPr>
              <a:t>Feasibility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23534" y="3556606"/>
            <a:ext cx="244093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2D2D2D"/>
                </a:solidFill>
                <a:latin typeface="DM Sans Bold"/>
                <a:ea typeface="DM Sans Bold"/>
                <a:cs typeface="DM Sans Bold"/>
                <a:sym typeface="DM Sans Bold"/>
              </a:rPr>
              <a:t>Scalability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08420" y="3554139"/>
            <a:ext cx="271934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2D2D2D"/>
                </a:solidFill>
                <a:latin typeface="DM Sans Bold"/>
                <a:ea typeface="DM Sans Bold"/>
                <a:cs typeface="DM Sans Bold"/>
                <a:sym typeface="DM Sans Bold"/>
              </a:rPr>
              <a:t>Challenges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371641" y="2040712"/>
            <a:ext cx="5544717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b="true">
                <a:solidFill>
                  <a:srgbClr val="2D2D2D"/>
                </a:solidFill>
                <a:latin typeface="Fraunces Bold"/>
                <a:ea typeface="Fraunces Bold"/>
                <a:cs typeface="Fraunces Bold"/>
                <a:sym typeface="Fraunces Bold"/>
              </a:rPr>
              <a:t>Future Prospects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1028700" y="0"/>
                </a:moveTo>
                <a:lnTo>
                  <a:pt x="0" y="0"/>
                </a:lnTo>
                <a:lnTo>
                  <a:pt x="0" y="1028700"/>
                </a:lnTo>
                <a:lnTo>
                  <a:pt x="1028700" y="1028700"/>
                </a:lnTo>
                <a:lnTo>
                  <a:pt x="10287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400000">
            <a:off x="-3605352" y="5652265"/>
            <a:ext cx="9258579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-10800000">
            <a:off x="1028700" y="1008688"/>
            <a:ext cx="17259300" cy="0"/>
          </a:xfrm>
          <a:prstGeom prst="line">
            <a:avLst/>
          </a:prstGeom>
          <a:ln cap="flat" w="9525">
            <a:solidFill>
              <a:srgbClr val="2D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993519" y="2923233"/>
            <a:ext cx="8028708" cy="255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3"/>
              </a:lnSpc>
            </a:pPr>
            <a:r>
              <a:rPr lang="en-US" sz="9893" b="true">
                <a:solidFill>
                  <a:srgbClr val="2D2D2D"/>
                </a:solidFill>
                <a:latin typeface="Fraunces Semi-Bold"/>
                <a:ea typeface="Fraunces Semi-Bold"/>
                <a:cs typeface="Fraunces Semi-Bold"/>
                <a:sym typeface="Fraunces Semi-Bold"/>
              </a:rPr>
              <a:t>Thank you</a:t>
            </a:r>
          </a:p>
          <a:p>
            <a:pPr algn="l">
              <a:lnSpc>
                <a:spcPts val="9893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5400000">
            <a:off x="13507075" y="5505392"/>
            <a:ext cx="6179809" cy="3382041"/>
          </a:xfrm>
          <a:custGeom>
            <a:avLst/>
            <a:gdLst/>
            <a:ahLst/>
            <a:cxnLst/>
            <a:rect r="r" b="b" t="t" l="l"/>
            <a:pathLst>
              <a:path h="3382041" w="6179809">
                <a:moveTo>
                  <a:pt x="0" y="0"/>
                </a:moveTo>
                <a:lnTo>
                  <a:pt x="6179809" y="0"/>
                </a:lnTo>
                <a:lnTo>
                  <a:pt x="6179809" y="3382041"/>
                </a:lnTo>
                <a:lnTo>
                  <a:pt x="0" y="3382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